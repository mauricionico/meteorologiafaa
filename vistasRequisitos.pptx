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9" r:id="rId2"/>
    <p:sldId id="262" r:id="rId3"/>
    <p:sldId id="257" r:id="rId4"/>
    <p:sldId id="261" r:id="rId5"/>
    <p:sldId id="260" r:id="rId6"/>
  </p:sldIdLst>
  <p:sldSz cx="12192000" cy="6858000"/>
  <p:notesSz cx="6858000" cy="9144000"/>
  <p:photoAlbum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9BFF"/>
    <a:srgbClr val="003FBC"/>
    <a:srgbClr val="002D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43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CD6486-883B-4E14-9038-FB6F4E8E06B3}" type="datetimeFigureOut">
              <a:rPr lang="es-AR" smtClean="0"/>
              <a:t>18/11/2025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0C2D3B-BC78-47B7-B15B-4B72320F58C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89613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E36CDC-27C3-E6C0-3AC7-804C6B1AB0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62A499A-3416-51CF-8221-5D44C44898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0EE618-F5CD-B9EF-6264-7BADFEB89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979BE-66D7-43AF-B01D-BEB275596A68}" type="datetimeFigureOut">
              <a:rPr lang="es-AR" smtClean="0"/>
              <a:t>18/11/2025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50B7F8-06F9-3A7F-C95B-A0FF99766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069BF2-446E-7A78-A573-5529E9CF1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2DD28-D849-4F6B-8A53-656F228ACA8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69130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2A3203-5739-94ED-6696-82AFCF69E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4F096B-BC36-8EC6-3A13-0469C9231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630CDF-FA43-67C3-4038-D5511E358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979BE-66D7-43AF-B01D-BEB275596A68}" type="datetimeFigureOut">
              <a:rPr lang="es-AR" smtClean="0"/>
              <a:t>18/11/2025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CB0D71-D08F-EA3D-3079-06E1BDDDC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FF3FA4-1516-AE0A-FC50-2994B2F0E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2DD28-D849-4F6B-8A53-656F228ACA8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27576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53F31C-4890-70DD-02C5-6609DAA75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7772CB2-8931-6362-5F8B-22E4CC4D0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604355-4107-DFF9-69CD-38CF5C411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979BE-66D7-43AF-B01D-BEB275596A68}" type="datetimeFigureOut">
              <a:rPr lang="es-AR" smtClean="0"/>
              <a:t>18/11/2025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A606AB-AFB4-6366-EDF4-03EB14A32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453B58-3826-ECF8-D8F8-DB01A8539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2DD28-D849-4F6B-8A53-656F228ACA8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43525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B331D0-C305-DC3C-9154-7951233B5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2E9B97-03F8-3AE7-57A0-A4EF910013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B2AEA5D-6451-EAA9-EF6B-BB7BA12A6C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C1ABA1C-0C31-6BCE-B24D-28AC949D6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979BE-66D7-43AF-B01D-BEB275596A68}" type="datetimeFigureOut">
              <a:rPr lang="es-AR" smtClean="0"/>
              <a:t>18/11/2025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D09BB7D-7068-8223-FB9F-AFE6B1C08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E89D9E4-ECC4-07D0-CF1E-68FBEB0E0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2DD28-D849-4F6B-8A53-656F228ACA8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895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1DA1D2-6BA6-0DEE-D782-E2BC04C54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DF70934-EBF4-4582-5D7E-909844939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87FF95D-A95E-C58B-E9D5-77A08B7121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0367FE5-533D-C799-C09D-8741B2EA83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C10895E-EB21-B74C-E898-EE89AB6552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1575C72-AA70-6EC4-DF46-046F538C2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979BE-66D7-43AF-B01D-BEB275596A68}" type="datetimeFigureOut">
              <a:rPr lang="es-AR" smtClean="0"/>
              <a:t>18/11/2025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3427B47-17D7-413B-7942-0AEB58B38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1884BEB-AD3B-8BA9-5190-44CFA5633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2DD28-D849-4F6B-8A53-656F228ACA8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18936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C12211-FD5C-1523-1CCB-228700D7C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941DAF2-DBC6-251E-A3F3-1804AB474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979BE-66D7-43AF-B01D-BEB275596A68}" type="datetimeFigureOut">
              <a:rPr lang="es-AR" smtClean="0"/>
              <a:t>18/11/2025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3411C71-B6E3-8890-E747-FE9994212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AC2938D-67F3-07FB-1DA8-092E0B71F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2DD28-D849-4F6B-8A53-656F228ACA8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54385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B0B4FAC-60A1-DC17-ACA8-CAA355FDB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979BE-66D7-43AF-B01D-BEB275596A68}" type="datetimeFigureOut">
              <a:rPr lang="es-AR" smtClean="0"/>
              <a:t>18/11/2025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5D0F4CC-CB38-4265-8BCC-63ED1283E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53B9397-5D9C-F73E-4D7C-DC581D1B4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2DD28-D849-4F6B-8A53-656F228ACA8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93620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DEEC18-745B-4B1E-97A2-E2CB25FA9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1D88EF-86BE-2C23-A51D-22E2892CA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5F27C68-DEC4-7BD3-7FC1-C65F9735C8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84A425D-FBF7-9B95-9D1F-CF227651A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979BE-66D7-43AF-B01D-BEB275596A68}" type="datetimeFigureOut">
              <a:rPr lang="es-AR" smtClean="0"/>
              <a:t>18/11/2025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EDB3EFF-EB1A-EFE0-2D0E-9ADC9F6AC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4B453C-275D-4393-520D-25A8582B7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2DD28-D849-4F6B-8A53-656F228ACA8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61479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CDDF92-76BA-E0AE-7E97-8052C38CD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BBB5E5A-080A-65C3-AF19-0F9F126C04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B7D55A3-3807-1A71-B2F9-7CA2EA1AF1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74253F4-5E7C-54B4-9BC8-70D260D7C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979BE-66D7-43AF-B01D-BEB275596A68}" type="datetimeFigureOut">
              <a:rPr lang="es-AR" smtClean="0"/>
              <a:t>18/11/2025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5D810F0-DD31-1D2C-2C5B-9709A50F6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BA81AE1-DF99-3556-4245-6C315E69A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2DD28-D849-4F6B-8A53-656F228ACA8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27497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06C840-99D1-978F-62F1-F87E151C8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4618D0D-65DE-8BCB-1027-962AFA97BB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8EDECE-1D4E-B0ED-5391-79500F861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979BE-66D7-43AF-B01D-BEB275596A68}" type="datetimeFigureOut">
              <a:rPr lang="es-AR" smtClean="0"/>
              <a:t>18/11/2025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6F3456-0A46-DD1B-953B-18BC6EC61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6184F15-774C-37EC-1578-21E8348D0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2DD28-D849-4F6B-8A53-656F228ACA8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06623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3F49106-8112-7444-3C2F-1C4ACFD16E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66D2CBD-2E19-5377-5DB2-2AB1F08B8E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FF5544-66FF-E34D-7069-4A5606337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979BE-66D7-43AF-B01D-BEB275596A68}" type="datetimeFigureOut">
              <a:rPr lang="es-AR" smtClean="0"/>
              <a:t>18/11/2025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FDECB3-212C-88F3-9872-4B18CBA24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DF51532-86C8-C577-81DC-FF1E80E19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2DD28-D849-4F6B-8A53-656F228ACA8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3996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4A06DB2-74FF-4833-06F8-C67685B8B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C3A507D-75F1-7135-5DBD-25B507073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5BAD7C-4CF9-0CA1-754B-C7BD5E9AF2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1979BE-66D7-43AF-B01D-BEB275596A68}" type="datetimeFigureOut">
              <a:rPr lang="es-AR" smtClean="0"/>
              <a:t>18/11/2025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C541147-B349-9363-3AD3-07CEC182B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6DBDF1-3BE6-1DC3-B8BE-7AD488E1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B2DD28-D849-4F6B-8A53-656F228ACA8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386448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WhatsApp Image 2025-11-18 at 07.56.21">
            <a:extLst>
              <a:ext uri="{FF2B5EF4-FFF2-40B4-BE49-F238E27FC236}">
                <a16:creationId xmlns:a16="http://schemas.microsoft.com/office/drawing/2014/main" id="{946B647B-A39A-E06A-6389-7DEB52688A7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1325"/>
            <a:ext cx="12192000" cy="597535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3E3A6C3-7728-3A4B-E666-F93C361F2E9E}"/>
              </a:ext>
            </a:extLst>
          </p:cNvPr>
          <p:cNvSpPr/>
          <p:nvPr/>
        </p:nvSpPr>
        <p:spPr>
          <a:xfrm>
            <a:off x="3811605" y="3522846"/>
            <a:ext cx="3705726" cy="44276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sz="1200" b="1" dirty="0"/>
              <a:t>Subir Información</a:t>
            </a:r>
            <a:endParaRPr lang="es-AR" sz="1200" b="1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E8DB60B-56D7-BD54-DD33-929756199C5F}"/>
              </a:ext>
            </a:extLst>
          </p:cNvPr>
          <p:cNvSpPr/>
          <p:nvPr/>
        </p:nvSpPr>
        <p:spPr>
          <a:xfrm>
            <a:off x="3811605" y="5900007"/>
            <a:ext cx="3705726" cy="44276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sz="1200" b="1" dirty="0"/>
              <a:t>Subir Información</a:t>
            </a:r>
            <a:endParaRPr lang="es-AR" sz="1200" b="1" dirty="0"/>
          </a:p>
        </p:txBody>
      </p:sp>
    </p:spTree>
    <p:extLst>
      <p:ext uri="{BB962C8B-B14F-4D97-AF65-F5344CB8AC3E}">
        <p14:creationId xmlns:p14="http://schemas.microsoft.com/office/powerpoint/2010/main" val="3185458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354957C1-5732-8418-ED35-DF20202C0C0D}"/>
              </a:ext>
            </a:extLst>
          </p:cNvPr>
          <p:cNvSpPr/>
          <p:nvPr/>
        </p:nvSpPr>
        <p:spPr>
          <a:xfrm>
            <a:off x="3028769" y="1675085"/>
            <a:ext cx="5062677" cy="4754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b="1" dirty="0">
                <a:solidFill>
                  <a:srgbClr val="002060"/>
                </a:solidFill>
              </a:rPr>
              <a:t>BRIEFING METEOROLÓGICO MILITAR</a:t>
            </a:r>
            <a:endParaRPr lang="es-AR" b="1" dirty="0">
              <a:solidFill>
                <a:srgbClr val="002060"/>
              </a:solidFill>
            </a:endParaRPr>
          </a:p>
        </p:txBody>
      </p:sp>
      <p:pic>
        <p:nvPicPr>
          <p:cNvPr id="2" name="Imagen 1" descr="WhatsApp Image 2025-11-18 at 07.56.53">
            <a:extLst>
              <a:ext uri="{FF2B5EF4-FFF2-40B4-BE49-F238E27FC236}">
                <a16:creationId xmlns:a16="http://schemas.microsoft.com/office/drawing/2014/main" id="{8DE9F798-E208-C77E-DE60-4AE7F808639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886"/>
          <a:stretch>
            <a:fillRect/>
          </a:stretch>
        </p:blipFill>
        <p:spPr>
          <a:xfrm>
            <a:off x="0" y="8168"/>
            <a:ext cx="12192000" cy="466961"/>
          </a:xfrm>
          <a:prstGeom prst="rect">
            <a:avLst/>
          </a:prstGeom>
        </p:spPr>
      </p:pic>
      <p:pic>
        <p:nvPicPr>
          <p:cNvPr id="3" name="Imagen 2" descr="WhatsApp Image 2025-11-18 at 07.56.53">
            <a:extLst>
              <a:ext uri="{FF2B5EF4-FFF2-40B4-BE49-F238E27FC236}">
                <a16:creationId xmlns:a16="http://schemas.microsoft.com/office/drawing/2014/main" id="{4D6668F9-56C8-2E6F-D11E-6AC7D43189B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56" b="68302"/>
          <a:stretch>
            <a:fillRect/>
          </a:stretch>
        </p:blipFill>
        <p:spPr>
          <a:xfrm>
            <a:off x="0" y="421341"/>
            <a:ext cx="12192000" cy="1335253"/>
          </a:xfrm>
          <a:prstGeom prst="rect">
            <a:avLst/>
          </a:prstGeom>
        </p:spPr>
      </p:pic>
      <p:pic>
        <p:nvPicPr>
          <p:cNvPr id="4" name="Imagen 3" descr="WhatsApp Image 2025-11-18 at 07.56.53">
            <a:extLst>
              <a:ext uri="{FF2B5EF4-FFF2-40B4-BE49-F238E27FC236}">
                <a16:creationId xmlns:a16="http://schemas.microsoft.com/office/drawing/2014/main" id="{B44B74F9-A80C-3AF2-F571-1A37E2298BA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076" b="2068"/>
          <a:stretch>
            <a:fillRect/>
          </a:stretch>
        </p:blipFill>
        <p:spPr>
          <a:xfrm>
            <a:off x="0" y="2035801"/>
            <a:ext cx="12192000" cy="366656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B333F039-B202-BECF-F7BF-F145428E780F}"/>
              </a:ext>
            </a:extLst>
          </p:cNvPr>
          <p:cNvSpPr/>
          <p:nvPr/>
        </p:nvSpPr>
        <p:spPr>
          <a:xfrm>
            <a:off x="3203629" y="2663159"/>
            <a:ext cx="4579810" cy="2932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sz="1200" b="1" dirty="0"/>
              <a:t>Observaciones </a:t>
            </a:r>
            <a:endParaRPr lang="es-AR" sz="1200" b="1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8619A6A-6496-1A38-D9B4-826951D40987}"/>
              </a:ext>
            </a:extLst>
          </p:cNvPr>
          <p:cNvSpPr/>
          <p:nvPr/>
        </p:nvSpPr>
        <p:spPr>
          <a:xfrm>
            <a:off x="3203629" y="3200068"/>
            <a:ext cx="4579810" cy="2932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sz="1200" b="1" dirty="0"/>
              <a:t>Imágenes Satelitales</a:t>
            </a:r>
            <a:endParaRPr lang="es-AR" sz="1200" b="1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3B50CEC-ABAA-40C7-42AF-B9A5A718D430}"/>
              </a:ext>
            </a:extLst>
          </p:cNvPr>
          <p:cNvSpPr/>
          <p:nvPr/>
        </p:nvSpPr>
        <p:spPr>
          <a:xfrm>
            <a:off x="3252451" y="3727670"/>
            <a:ext cx="4579810" cy="2932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sz="1200" b="1" dirty="0"/>
              <a:t>Cartas Sinópticas de Superficie</a:t>
            </a:r>
            <a:endParaRPr lang="es-AR" sz="1200" b="1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2AE71A5-2190-EB2D-D320-212FFE8B0D79}"/>
              </a:ext>
            </a:extLst>
          </p:cNvPr>
          <p:cNvSpPr/>
          <p:nvPr/>
        </p:nvSpPr>
        <p:spPr>
          <a:xfrm>
            <a:off x="2893803" y="4192863"/>
            <a:ext cx="5293895" cy="325849"/>
          </a:xfrm>
          <a:prstGeom prst="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sz="1200" b="1" dirty="0"/>
              <a:t>Cartas Pronosticadas</a:t>
            </a:r>
            <a:endParaRPr lang="es-AR" sz="1200" b="1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4B4A1DE-2E66-A0AF-6010-1FBF12195C39}"/>
              </a:ext>
            </a:extLst>
          </p:cNvPr>
          <p:cNvSpPr/>
          <p:nvPr/>
        </p:nvSpPr>
        <p:spPr>
          <a:xfrm>
            <a:off x="2884568" y="5219906"/>
            <a:ext cx="5293895" cy="348728"/>
          </a:xfrm>
          <a:prstGeom prst="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sz="1200" b="1" dirty="0"/>
              <a:t>Pronósticos Especiales</a:t>
            </a:r>
            <a:endParaRPr lang="es-AR" sz="1200" b="1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2B44698-F6C4-61F3-C7B8-051E164D2E28}"/>
              </a:ext>
            </a:extLst>
          </p:cNvPr>
          <p:cNvSpPr/>
          <p:nvPr/>
        </p:nvSpPr>
        <p:spPr>
          <a:xfrm>
            <a:off x="2893804" y="2114392"/>
            <a:ext cx="5293895" cy="3258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sz="1200" b="1" dirty="0"/>
              <a:t>Alertas y Avisos</a:t>
            </a:r>
            <a:endParaRPr lang="es-AR" sz="1200" b="1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F57DAA5-734F-CE5B-CD23-E88D1F0D7517}"/>
              </a:ext>
            </a:extLst>
          </p:cNvPr>
          <p:cNvSpPr/>
          <p:nvPr/>
        </p:nvSpPr>
        <p:spPr>
          <a:xfrm>
            <a:off x="2893804" y="4725378"/>
            <a:ext cx="5293895" cy="325849"/>
          </a:xfrm>
          <a:prstGeom prst="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sz="1200" b="1" dirty="0"/>
              <a:t>Pronósticos por FIR</a:t>
            </a:r>
            <a:endParaRPr lang="es-AR" sz="1200" b="1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247EFCF-9A44-5293-56BC-AC1EF8DEA862}"/>
              </a:ext>
            </a:extLst>
          </p:cNvPr>
          <p:cNvSpPr/>
          <p:nvPr/>
        </p:nvSpPr>
        <p:spPr>
          <a:xfrm>
            <a:off x="2889187" y="6070546"/>
            <a:ext cx="5293895" cy="3487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sz="1200" b="1" dirty="0"/>
              <a:t>Documentos de Apoyo</a:t>
            </a:r>
            <a:endParaRPr lang="es-AR" sz="1200" b="1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6329173-665B-4323-34F1-815949AAD95B}"/>
              </a:ext>
            </a:extLst>
          </p:cNvPr>
          <p:cNvSpPr/>
          <p:nvPr/>
        </p:nvSpPr>
        <p:spPr>
          <a:xfrm>
            <a:off x="2889187" y="6454152"/>
            <a:ext cx="5293895" cy="3487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sz="1200" b="1" dirty="0"/>
              <a:t>Links de Apoyo</a:t>
            </a:r>
            <a:endParaRPr lang="es-AR" sz="1200" b="1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DFBC53F-74BE-5C36-EA20-5CE036104CD1}"/>
              </a:ext>
            </a:extLst>
          </p:cNvPr>
          <p:cNvSpPr/>
          <p:nvPr/>
        </p:nvSpPr>
        <p:spPr>
          <a:xfrm>
            <a:off x="2903043" y="5668769"/>
            <a:ext cx="5293895" cy="348728"/>
          </a:xfrm>
          <a:prstGeom prst="rect">
            <a:avLst/>
          </a:prstGeom>
          <a:solidFill>
            <a:srgbClr val="699B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sz="1200" b="1" dirty="0"/>
              <a:t>Meteorología del Espacio</a:t>
            </a:r>
            <a:endParaRPr lang="es-AR" sz="1200" b="1" dirty="0"/>
          </a:p>
        </p:txBody>
      </p:sp>
    </p:spTree>
    <p:extLst>
      <p:ext uri="{BB962C8B-B14F-4D97-AF65-F5344CB8AC3E}">
        <p14:creationId xmlns:p14="http://schemas.microsoft.com/office/powerpoint/2010/main" val="2071974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WhatsApp Image 2025-11-18 at 07.57.13">
            <a:extLst>
              <a:ext uri="{FF2B5EF4-FFF2-40B4-BE49-F238E27FC236}">
                <a16:creationId xmlns:a16="http://schemas.microsoft.com/office/drawing/2014/main" id="{323CA114-BF5A-7ACC-9917-38D8DCF426A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475"/>
            <a:ext cx="12192000" cy="6621463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99DD9096-8566-BE6A-5F86-BC026244AFB0}"/>
              </a:ext>
            </a:extLst>
          </p:cNvPr>
          <p:cNvSpPr/>
          <p:nvPr/>
        </p:nvSpPr>
        <p:spPr>
          <a:xfrm>
            <a:off x="3367238" y="4840187"/>
            <a:ext cx="4579810" cy="2932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sz="1200" b="1" dirty="0"/>
              <a:t>Receptor FAA</a:t>
            </a:r>
            <a:endParaRPr lang="es-AR" sz="1200" b="1" dirty="0"/>
          </a:p>
        </p:txBody>
      </p:sp>
    </p:spTree>
    <p:extLst>
      <p:ext uri="{BB962C8B-B14F-4D97-AF65-F5344CB8AC3E}">
        <p14:creationId xmlns:p14="http://schemas.microsoft.com/office/powerpoint/2010/main" val="2292333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00B98-23FC-3B24-83AB-D12756ADB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WhatsApp Image 2025-11-18 at 07.56.53">
            <a:extLst>
              <a:ext uri="{FF2B5EF4-FFF2-40B4-BE49-F238E27FC236}">
                <a16:creationId xmlns:a16="http://schemas.microsoft.com/office/drawing/2014/main" id="{B71890EB-0270-414F-EFC7-0B708D672EE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268"/>
            <a:ext cx="12192000" cy="6564313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27D3C353-E16B-4ED0-D12B-2AAA88C512D4}"/>
              </a:ext>
            </a:extLst>
          </p:cNvPr>
          <p:cNvSpPr/>
          <p:nvPr/>
        </p:nvSpPr>
        <p:spPr>
          <a:xfrm>
            <a:off x="663753" y="3630695"/>
            <a:ext cx="4579810" cy="293299"/>
          </a:xfrm>
          <a:prstGeom prst="rect">
            <a:avLst/>
          </a:prstGeom>
          <a:solidFill>
            <a:srgbClr val="002D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sz="1400" b="1" dirty="0"/>
              <a:t>Observaciones </a:t>
            </a:r>
            <a:endParaRPr lang="es-AR" sz="1400" b="1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5C17298-C4FD-72F4-CA03-EA072CFE116B}"/>
              </a:ext>
            </a:extLst>
          </p:cNvPr>
          <p:cNvSpPr/>
          <p:nvPr/>
        </p:nvSpPr>
        <p:spPr>
          <a:xfrm>
            <a:off x="663753" y="4167604"/>
            <a:ext cx="4579810" cy="293299"/>
          </a:xfrm>
          <a:prstGeom prst="rect">
            <a:avLst/>
          </a:prstGeom>
          <a:solidFill>
            <a:srgbClr val="002D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sz="1400" b="1" dirty="0"/>
              <a:t>Imágenes Satelitales</a:t>
            </a:r>
            <a:endParaRPr lang="es-AR" sz="1400" b="1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58E259E-6CF4-21B0-602B-A13FC0270722}"/>
              </a:ext>
            </a:extLst>
          </p:cNvPr>
          <p:cNvSpPr/>
          <p:nvPr/>
        </p:nvSpPr>
        <p:spPr>
          <a:xfrm>
            <a:off x="712575" y="4695206"/>
            <a:ext cx="4579810" cy="293299"/>
          </a:xfrm>
          <a:prstGeom prst="rect">
            <a:avLst/>
          </a:prstGeom>
          <a:solidFill>
            <a:srgbClr val="002D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sz="1400" b="1" dirty="0"/>
              <a:t>Cartas Sinópticas de Superficie</a:t>
            </a:r>
            <a:endParaRPr lang="es-AR" sz="1400" b="1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4011DFF-DA88-3BF3-4969-38F975464D31}"/>
              </a:ext>
            </a:extLst>
          </p:cNvPr>
          <p:cNvSpPr/>
          <p:nvPr/>
        </p:nvSpPr>
        <p:spPr>
          <a:xfrm>
            <a:off x="353928" y="3100401"/>
            <a:ext cx="5293895" cy="3258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sz="1400" b="1" dirty="0"/>
              <a:t>Alertas y Avisos</a:t>
            </a:r>
            <a:endParaRPr lang="es-AR" sz="1400" b="1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E3EF61F-75A2-CE00-3531-06BBA7CD8B62}"/>
              </a:ext>
            </a:extLst>
          </p:cNvPr>
          <p:cNvSpPr/>
          <p:nvPr/>
        </p:nvSpPr>
        <p:spPr>
          <a:xfrm>
            <a:off x="488893" y="2421496"/>
            <a:ext cx="5062677" cy="4754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sz="1400" b="1" dirty="0">
                <a:solidFill>
                  <a:srgbClr val="002060"/>
                </a:solidFill>
              </a:rPr>
              <a:t>BRIEFING METEOROLÓGICO MILITAR</a:t>
            </a:r>
            <a:endParaRPr lang="es-AR" sz="1400" b="1" dirty="0">
              <a:solidFill>
                <a:srgbClr val="002060"/>
              </a:solidFill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8D3DDD9-5CDE-A996-A0BA-FA97E76F6BE1}"/>
              </a:ext>
            </a:extLst>
          </p:cNvPr>
          <p:cNvSpPr/>
          <p:nvPr/>
        </p:nvSpPr>
        <p:spPr>
          <a:xfrm>
            <a:off x="2887578" y="6467463"/>
            <a:ext cx="5293895" cy="34872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sz="1200" b="1" dirty="0"/>
              <a:t>Documentos de Apoyo</a:t>
            </a:r>
            <a:endParaRPr lang="es-AR" sz="1200" b="1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78E93C1-9AA7-6D31-FAEF-A9A397EF6150}"/>
              </a:ext>
            </a:extLst>
          </p:cNvPr>
          <p:cNvSpPr/>
          <p:nvPr/>
        </p:nvSpPr>
        <p:spPr>
          <a:xfrm>
            <a:off x="0" y="498794"/>
            <a:ext cx="12191999" cy="63592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CDC8A82-2A55-D332-7E56-DDF59023C0FE}"/>
              </a:ext>
            </a:extLst>
          </p:cNvPr>
          <p:cNvSpPr txBox="1"/>
          <p:nvPr/>
        </p:nvSpPr>
        <p:spPr>
          <a:xfrm>
            <a:off x="2887578" y="645458"/>
            <a:ext cx="65432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2800" b="1" dirty="0">
                <a:solidFill>
                  <a:srgbClr val="002060"/>
                </a:solidFill>
              </a:rPr>
              <a:t>RECEPTOR FUERZA AÉREA ARGENTINA</a:t>
            </a:r>
            <a:endParaRPr lang="es-AR" sz="2800" b="1" dirty="0">
              <a:solidFill>
                <a:srgbClr val="002060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B16386B-F92E-D08E-3BFF-0ADE9F9D7046}"/>
              </a:ext>
            </a:extLst>
          </p:cNvPr>
          <p:cNvSpPr txBox="1"/>
          <p:nvPr/>
        </p:nvSpPr>
        <p:spPr>
          <a:xfrm>
            <a:off x="1595718" y="1273884"/>
            <a:ext cx="92874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US" dirty="0">
                <a:solidFill>
                  <a:schemeClr val="bg1"/>
                </a:solidFill>
              </a:rPr>
              <a:t>El receptor de imágenes satelitales meteorológicas de la FAA integra la red de receptores del sistema </a:t>
            </a:r>
            <a:r>
              <a:rPr lang="es-US" dirty="0" err="1">
                <a:solidFill>
                  <a:schemeClr val="bg1"/>
                </a:solidFill>
              </a:rPr>
              <a:t>GeoNetCast</a:t>
            </a:r>
            <a:r>
              <a:rPr lang="es-US" dirty="0">
                <a:solidFill>
                  <a:schemeClr val="bg1"/>
                </a:solidFill>
              </a:rPr>
              <a:t> Américas (OMM-NOAA), ha sido desarrollado en la V Brigada Aérea y actualmente es operado en la BAM Merlo por Servicio de Meteorología del </a:t>
            </a:r>
            <a:r>
              <a:rPr lang="es-US" dirty="0" err="1">
                <a:solidFill>
                  <a:schemeClr val="bg1"/>
                </a:solidFill>
              </a:rPr>
              <a:t>Esc</a:t>
            </a:r>
            <a:r>
              <a:rPr lang="es-US" dirty="0">
                <a:solidFill>
                  <a:schemeClr val="bg1"/>
                </a:solidFill>
              </a:rPr>
              <a:t> I VYCA.</a:t>
            </a:r>
            <a:endParaRPr lang="es-AR" dirty="0">
              <a:solidFill>
                <a:schemeClr val="bg1"/>
              </a:solidFill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50226BA-04AB-5A31-3BFB-DDFDF5EC711B}"/>
              </a:ext>
            </a:extLst>
          </p:cNvPr>
          <p:cNvSpPr txBox="1"/>
          <p:nvPr/>
        </p:nvSpPr>
        <p:spPr>
          <a:xfrm>
            <a:off x="446175" y="5479031"/>
            <a:ext cx="112996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b="1" dirty="0">
                <a:solidFill>
                  <a:srgbClr val="002060"/>
                </a:solidFill>
              </a:rPr>
              <a:t>Links de Apoyo</a:t>
            </a:r>
          </a:p>
          <a:p>
            <a:pPr algn="ctr"/>
            <a:endParaRPr lang="es-US" b="1" dirty="0">
              <a:solidFill>
                <a:srgbClr val="002060"/>
              </a:solidFill>
            </a:endParaRPr>
          </a:p>
          <a:p>
            <a:r>
              <a:rPr lang="es-US" b="1" dirty="0">
                <a:solidFill>
                  <a:srgbClr val="002060"/>
                </a:solidFill>
              </a:rPr>
              <a:t>https://www.geonetcastamericas.noaa.gov/</a:t>
            </a:r>
          </a:p>
          <a:p>
            <a:r>
              <a:rPr lang="es-US" b="1" dirty="0">
                <a:solidFill>
                  <a:srgbClr val="002060"/>
                </a:solidFill>
              </a:rPr>
              <a:t>https://geonetcast.wordpress.com/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4128513-9A0E-C212-BBF6-A68ACEA56052}"/>
              </a:ext>
            </a:extLst>
          </p:cNvPr>
          <p:cNvSpPr/>
          <p:nvPr/>
        </p:nvSpPr>
        <p:spPr>
          <a:xfrm>
            <a:off x="1250197" y="2550070"/>
            <a:ext cx="4579810" cy="2932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b="1" dirty="0"/>
              <a:t>ARGENTINA – Color Natural</a:t>
            </a:r>
            <a:r>
              <a:rPr lang="es-US" sz="1400" b="1" dirty="0"/>
              <a:t> </a:t>
            </a:r>
            <a:endParaRPr lang="es-AR" sz="1400" b="1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2CD49B5-BC6E-0F2E-542C-BA983AD0F361}"/>
              </a:ext>
            </a:extLst>
          </p:cNvPr>
          <p:cNvSpPr/>
          <p:nvPr/>
        </p:nvSpPr>
        <p:spPr>
          <a:xfrm>
            <a:off x="1272445" y="2964047"/>
            <a:ext cx="4579810" cy="2932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ARGENTINA INFRARROJO – Topes </a:t>
            </a:r>
            <a:r>
              <a:rPr lang="en-US" sz="1400" b="1" dirty="0" err="1"/>
              <a:t>Nubosos</a:t>
            </a:r>
            <a:endParaRPr lang="es-AR" sz="1400" b="1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50BDE91-BDBC-2DD3-0496-794DC08854CC}"/>
              </a:ext>
            </a:extLst>
          </p:cNvPr>
          <p:cNvSpPr/>
          <p:nvPr/>
        </p:nvSpPr>
        <p:spPr>
          <a:xfrm>
            <a:off x="1250197" y="3387085"/>
            <a:ext cx="4579810" cy="2932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ARGENTINA INFRARROJO CERCANO</a:t>
            </a:r>
            <a:endParaRPr lang="es-AR" sz="1400" b="1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28A7DAB-7505-30ED-EC93-4F334992AF82}"/>
              </a:ext>
            </a:extLst>
          </p:cNvPr>
          <p:cNvSpPr/>
          <p:nvPr/>
        </p:nvSpPr>
        <p:spPr>
          <a:xfrm>
            <a:off x="1250197" y="3809994"/>
            <a:ext cx="4579810" cy="293299"/>
          </a:xfrm>
          <a:prstGeom prst="rect">
            <a:avLst/>
          </a:prstGeom>
          <a:solidFill>
            <a:srgbClr val="002D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b="1" dirty="0"/>
              <a:t>ARGENTINA VISIBLE - Banda Rojo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9BAF5DCC-D41A-B628-2FEE-8F33CD2A5DE0}"/>
              </a:ext>
            </a:extLst>
          </p:cNvPr>
          <p:cNvSpPr/>
          <p:nvPr/>
        </p:nvSpPr>
        <p:spPr>
          <a:xfrm>
            <a:off x="1250197" y="4599861"/>
            <a:ext cx="4579810" cy="293299"/>
          </a:xfrm>
          <a:prstGeom prst="rect">
            <a:avLst/>
          </a:prstGeom>
          <a:solidFill>
            <a:srgbClr val="002D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b="1"/>
              <a:t>ARGENTINA  VAPOR DE AGUA – 750 a 500 hpa</a:t>
            </a:r>
            <a:endParaRPr lang="es-AR" sz="1400" b="1" dirty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1F7475D5-D219-84D8-98D5-344106C96338}"/>
              </a:ext>
            </a:extLst>
          </p:cNvPr>
          <p:cNvSpPr/>
          <p:nvPr/>
        </p:nvSpPr>
        <p:spPr>
          <a:xfrm>
            <a:off x="1250197" y="4200889"/>
            <a:ext cx="4579810" cy="293299"/>
          </a:xfrm>
          <a:prstGeom prst="rect">
            <a:avLst/>
          </a:prstGeom>
          <a:solidFill>
            <a:srgbClr val="002D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b="1" dirty="0"/>
              <a:t>ARGENTINA VISIBLE - Banda Azul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5F55EF6-3D6B-8D39-5065-01E0A9B0697B}"/>
              </a:ext>
            </a:extLst>
          </p:cNvPr>
          <p:cNvSpPr/>
          <p:nvPr/>
        </p:nvSpPr>
        <p:spPr>
          <a:xfrm>
            <a:off x="6355597" y="2511970"/>
            <a:ext cx="4579810" cy="293299"/>
          </a:xfrm>
          <a:prstGeom prst="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b="1" dirty="0"/>
              <a:t>ANTÁRTIDA – Color Natural</a:t>
            </a:r>
            <a:r>
              <a:rPr lang="es-US" sz="1400" b="1" dirty="0"/>
              <a:t> </a:t>
            </a:r>
            <a:endParaRPr lang="es-AR" sz="1400" b="1" dirty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546BDB9C-BE87-E06E-7A3B-DD21DDC94BFA}"/>
              </a:ext>
            </a:extLst>
          </p:cNvPr>
          <p:cNvSpPr/>
          <p:nvPr/>
        </p:nvSpPr>
        <p:spPr>
          <a:xfrm>
            <a:off x="6377845" y="2925947"/>
            <a:ext cx="4579810" cy="293299"/>
          </a:xfrm>
          <a:prstGeom prst="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ANTÁRTIDA – Topes </a:t>
            </a:r>
            <a:r>
              <a:rPr lang="en-US" sz="1400" b="1" dirty="0" err="1"/>
              <a:t>Nubosos</a:t>
            </a:r>
            <a:endParaRPr lang="es-AR" sz="1400" b="1" dirty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5F065DFE-EFC7-C716-D815-4967A787C692}"/>
              </a:ext>
            </a:extLst>
          </p:cNvPr>
          <p:cNvSpPr/>
          <p:nvPr/>
        </p:nvSpPr>
        <p:spPr>
          <a:xfrm>
            <a:off x="6355597" y="3348985"/>
            <a:ext cx="4579810" cy="293299"/>
          </a:xfrm>
          <a:prstGeom prst="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ANTÁRTIDA VISIBLE – Banda Azul</a:t>
            </a:r>
            <a:endParaRPr lang="es-AR" sz="1400" b="1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0A127BE5-C120-F649-9BD4-9881229433D2}"/>
              </a:ext>
            </a:extLst>
          </p:cNvPr>
          <p:cNvSpPr/>
          <p:nvPr/>
        </p:nvSpPr>
        <p:spPr>
          <a:xfrm>
            <a:off x="6355597" y="3771894"/>
            <a:ext cx="4579810" cy="293299"/>
          </a:xfrm>
          <a:prstGeom prst="rect">
            <a:avLst/>
          </a:prstGeom>
          <a:solidFill>
            <a:srgbClr val="699B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b="1" dirty="0"/>
              <a:t>ARGENTINA RAYOS - Banda Rojo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AA9BDC96-62CB-1BB1-3B62-B11A974DCBCD}"/>
              </a:ext>
            </a:extLst>
          </p:cNvPr>
          <p:cNvSpPr/>
          <p:nvPr/>
        </p:nvSpPr>
        <p:spPr>
          <a:xfrm>
            <a:off x="6355597" y="4561761"/>
            <a:ext cx="4579810" cy="293299"/>
          </a:xfrm>
          <a:prstGeom prst="rect">
            <a:avLst/>
          </a:prstGeom>
          <a:solidFill>
            <a:srgbClr val="699B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b="1" dirty="0"/>
              <a:t>ARGENTINA – Altura de Topes (Estimada)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A7CA18A4-B37E-73B1-84B5-063702957EE6}"/>
              </a:ext>
            </a:extLst>
          </p:cNvPr>
          <p:cNvSpPr/>
          <p:nvPr/>
        </p:nvSpPr>
        <p:spPr>
          <a:xfrm>
            <a:off x="6355597" y="4162789"/>
            <a:ext cx="4579810" cy="293299"/>
          </a:xfrm>
          <a:prstGeom prst="rect">
            <a:avLst/>
          </a:prstGeom>
          <a:solidFill>
            <a:srgbClr val="699B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b="1" dirty="0"/>
              <a:t>ARGENTINA – Fase de Agua en Nube (</a:t>
            </a:r>
            <a:r>
              <a:rPr lang="es-AR" sz="1400" b="1" dirty="0" err="1"/>
              <a:t>stimada</a:t>
            </a:r>
            <a:r>
              <a:rPr lang="es-AR" sz="14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68582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DEFC7-464E-8AF3-0918-27C0EABB6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WhatsApp Image 2025-11-18 at 07.56.53">
            <a:extLst>
              <a:ext uri="{FF2B5EF4-FFF2-40B4-BE49-F238E27FC236}">
                <a16:creationId xmlns:a16="http://schemas.microsoft.com/office/drawing/2014/main" id="{14BCE7C2-D453-8D5D-0778-EEA53E33485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268"/>
            <a:ext cx="12192000" cy="6564313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D30DA3B0-EE29-C49C-6BD1-032E23E15975}"/>
              </a:ext>
            </a:extLst>
          </p:cNvPr>
          <p:cNvSpPr/>
          <p:nvPr/>
        </p:nvSpPr>
        <p:spPr>
          <a:xfrm>
            <a:off x="3197403" y="3383045"/>
            <a:ext cx="4579810" cy="2932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sz="1200" b="1" dirty="0"/>
              <a:t>Observaciones </a:t>
            </a:r>
            <a:endParaRPr lang="es-AR" sz="1200" b="1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E0FD8A2-3925-EF1B-E83F-4703E19D4509}"/>
              </a:ext>
            </a:extLst>
          </p:cNvPr>
          <p:cNvSpPr/>
          <p:nvPr/>
        </p:nvSpPr>
        <p:spPr>
          <a:xfrm>
            <a:off x="3197403" y="3919954"/>
            <a:ext cx="4579810" cy="2932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sz="1200" b="1" dirty="0"/>
              <a:t>Imágenes Satelitales</a:t>
            </a:r>
            <a:endParaRPr lang="es-AR" sz="1200" b="1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E5C9A9F-0E97-D49F-39C1-99F0E725E048}"/>
              </a:ext>
            </a:extLst>
          </p:cNvPr>
          <p:cNvSpPr/>
          <p:nvPr/>
        </p:nvSpPr>
        <p:spPr>
          <a:xfrm>
            <a:off x="3246225" y="4447556"/>
            <a:ext cx="4579810" cy="2932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sz="1200" b="1" dirty="0"/>
              <a:t>Cartas Sinópticas de Superficie</a:t>
            </a:r>
            <a:endParaRPr lang="es-AR" sz="1200" b="1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F40E644-883C-BC54-6E73-FFB01F804010}"/>
              </a:ext>
            </a:extLst>
          </p:cNvPr>
          <p:cNvSpPr/>
          <p:nvPr/>
        </p:nvSpPr>
        <p:spPr>
          <a:xfrm>
            <a:off x="3246225" y="4954606"/>
            <a:ext cx="4579810" cy="2932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sz="1200" b="1" dirty="0"/>
              <a:t>Cartas Pronosticadas</a:t>
            </a:r>
            <a:endParaRPr lang="es-AR" sz="1200" b="1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00CE622-9F6B-3B33-1457-FC7F7FD4D19C}"/>
              </a:ext>
            </a:extLst>
          </p:cNvPr>
          <p:cNvSpPr/>
          <p:nvPr/>
        </p:nvSpPr>
        <p:spPr>
          <a:xfrm>
            <a:off x="3290235" y="6024098"/>
            <a:ext cx="4579810" cy="2932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sz="1200" b="1" dirty="0"/>
              <a:t>Pronósticos Especiales</a:t>
            </a:r>
            <a:endParaRPr lang="es-AR" sz="1200" b="1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072E97F-EA1F-F2F1-B336-A5A8EA8F265B}"/>
              </a:ext>
            </a:extLst>
          </p:cNvPr>
          <p:cNvSpPr/>
          <p:nvPr/>
        </p:nvSpPr>
        <p:spPr>
          <a:xfrm>
            <a:off x="2887578" y="2852751"/>
            <a:ext cx="5293895" cy="3258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sz="1200" b="1" dirty="0"/>
              <a:t>Alertas y Avisos</a:t>
            </a:r>
            <a:endParaRPr lang="es-AR" sz="1200" b="1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EB349E3-78BC-34DB-7F28-3A99748EB2DB}"/>
              </a:ext>
            </a:extLst>
          </p:cNvPr>
          <p:cNvSpPr/>
          <p:nvPr/>
        </p:nvSpPr>
        <p:spPr>
          <a:xfrm>
            <a:off x="3290235" y="5482208"/>
            <a:ext cx="4579810" cy="2932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sz="1200" b="1" dirty="0"/>
              <a:t>Pronósticos por FIR</a:t>
            </a:r>
            <a:endParaRPr lang="es-AR" sz="1200" b="1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7BDAD12-DCDD-77B3-2C33-925E6C9C97B1}"/>
              </a:ext>
            </a:extLst>
          </p:cNvPr>
          <p:cNvSpPr/>
          <p:nvPr/>
        </p:nvSpPr>
        <p:spPr>
          <a:xfrm>
            <a:off x="3022543" y="2173846"/>
            <a:ext cx="5062677" cy="4754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b="1" dirty="0">
                <a:solidFill>
                  <a:srgbClr val="002060"/>
                </a:solidFill>
              </a:rPr>
              <a:t>BRIEFING METEOROLÓGICO MILITAR</a:t>
            </a:r>
            <a:endParaRPr lang="es-AR" b="1" dirty="0">
              <a:solidFill>
                <a:srgbClr val="002060"/>
              </a:solidFill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7F78D2E-A1F4-29F9-83C8-1E8748A224C7}"/>
              </a:ext>
            </a:extLst>
          </p:cNvPr>
          <p:cNvSpPr/>
          <p:nvPr/>
        </p:nvSpPr>
        <p:spPr>
          <a:xfrm>
            <a:off x="2887578" y="6467463"/>
            <a:ext cx="5293895" cy="34872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sz="1200" b="1" dirty="0"/>
              <a:t>Documentos de Apoyo</a:t>
            </a:r>
            <a:endParaRPr lang="es-AR" sz="1200" b="1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B4D8E70-6C7B-5EA0-DD0E-4BC7D2B65DDF}"/>
              </a:ext>
            </a:extLst>
          </p:cNvPr>
          <p:cNvSpPr/>
          <p:nvPr/>
        </p:nvSpPr>
        <p:spPr>
          <a:xfrm>
            <a:off x="0" y="498794"/>
            <a:ext cx="12191999" cy="63592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2B3FE23-EA94-85BE-BBB5-5614A7A5CFD2}"/>
              </a:ext>
            </a:extLst>
          </p:cNvPr>
          <p:cNvSpPr txBox="1"/>
          <p:nvPr/>
        </p:nvSpPr>
        <p:spPr>
          <a:xfrm>
            <a:off x="2887578" y="645458"/>
            <a:ext cx="65432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2800" b="1" dirty="0">
                <a:solidFill>
                  <a:srgbClr val="002060"/>
                </a:solidFill>
              </a:rPr>
              <a:t>OBSERVACIONES MILITARES</a:t>
            </a:r>
            <a:endParaRPr lang="es-AR" sz="2800" b="1" dirty="0">
              <a:solidFill>
                <a:srgbClr val="002060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9106DCD-4197-1D3B-7CBA-E1918DFC79A5}"/>
              </a:ext>
            </a:extLst>
          </p:cNvPr>
          <p:cNvSpPr txBox="1"/>
          <p:nvPr/>
        </p:nvSpPr>
        <p:spPr>
          <a:xfrm>
            <a:off x="1595718" y="1273884"/>
            <a:ext cx="92874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US" dirty="0">
                <a:solidFill>
                  <a:schemeClr val="bg1"/>
                </a:solidFill>
              </a:rPr>
              <a:t>Las Observaciones Militares son realizadas por personal de la FAA para uso exclusivo dentro de su ámbito y resultan complementarias –no vinculantes- de las observaciones oficiales realizadas por el SMN .</a:t>
            </a:r>
            <a:endParaRPr lang="es-AR" dirty="0">
              <a:solidFill>
                <a:schemeClr val="bg1"/>
              </a:solidFill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C91E4EC-6CC5-B6D9-462A-1F6ED03749C4}"/>
              </a:ext>
            </a:extLst>
          </p:cNvPr>
          <p:cNvSpPr/>
          <p:nvPr/>
        </p:nvSpPr>
        <p:spPr>
          <a:xfrm>
            <a:off x="3442447" y="2852751"/>
            <a:ext cx="5293895" cy="13810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dirty="0"/>
              <a:t>DATOS</a:t>
            </a:r>
            <a:endParaRPr lang="es-AR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F772A23-FBA9-4522-7D9D-A8043F79F65B}"/>
              </a:ext>
            </a:extLst>
          </p:cNvPr>
          <p:cNvSpPr txBox="1"/>
          <p:nvPr/>
        </p:nvSpPr>
        <p:spPr>
          <a:xfrm>
            <a:off x="3039978" y="4912656"/>
            <a:ext cx="65432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b="1" dirty="0">
                <a:solidFill>
                  <a:srgbClr val="002060"/>
                </a:solidFill>
              </a:rPr>
              <a:t>Links de Apoyo</a:t>
            </a:r>
          </a:p>
          <a:p>
            <a:pPr algn="ctr"/>
            <a:endParaRPr lang="es-US" b="1" dirty="0">
              <a:solidFill>
                <a:srgbClr val="002060"/>
              </a:solidFill>
            </a:endParaRPr>
          </a:p>
          <a:p>
            <a:pPr algn="ctr"/>
            <a:r>
              <a:rPr lang="es-US" b="1" dirty="0">
                <a:solidFill>
                  <a:srgbClr val="002060"/>
                </a:solidFill>
              </a:rPr>
              <a:t>http://</a:t>
            </a:r>
          </a:p>
          <a:p>
            <a:pPr algn="ctr"/>
            <a:r>
              <a:rPr lang="es-US" b="1" dirty="0">
                <a:solidFill>
                  <a:srgbClr val="002060"/>
                </a:solidFill>
              </a:rPr>
              <a:t>http://</a:t>
            </a:r>
          </a:p>
          <a:p>
            <a:pPr algn="ctr"/>
            <a:r>
              <a:rPr lang="es-US" b="1" dirty="0">
                <a:solidFill>
                  <a:srgbClr val="002060"/>
                </a:solidFill>
              </a:rPr>
              <a:t>…</a:t>
            </a:r>
            <a:endParaRPr lang="es-AR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06875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255</Words>
  <Application>Microsoft Office PowerPoint</Application>
  <PresentationFormat>Panorámica</PresentationFormat>
  <Paragraphs>55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Chaman Met</dc:creator>
  <cp:lastModifiedBy>Mauricio</cp:lastModifiedBy>
  <cp:revision>4</cp:revision>
  <dcterms:created xsi:type="dcterms:W3CDTF">2025-11-18T11:02:59Z</dcterms:created>
  <dcterms:modified xsi:type="dcterms:W3CDTF">2025-11-18T17:09:17Z</dcterms:modified>
</cp:coreProperties>
</file>